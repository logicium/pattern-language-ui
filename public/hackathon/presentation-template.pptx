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D9E2F3"/>
                </a:solidFill>
                <a:latin typeface="Calibri"/>
              </a:rPr>
              <a:t>COMMUNITY SOLUTION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[ TEAM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D9E2F3"/>
                </a:solidFill>
                <a:latin typeface="Calibri"/>
              </a:rPr>
              <a:t>[ One sentence a stranger could understand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BF8F00"/>
                </a:solidFill>
                <a:latin typeface="Calibri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[ Names here ]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Presenter: [ name ]     Backup: [ name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9DB0D4"/>
                </a:solidFill>
                <a:latin typeface="Calibri"/>
              </a:rPr>
              <a:t>Replace every bracket. Do not redesign this deck — spend your hour on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the opportunity or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Name the change you are trying to make — and who specifically benefits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6949440" cy="4480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State the opportunity in one or two sentences.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76856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2" y="2752344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What is happening now that shouldn't be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27832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or what isn't happening that should?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03320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Why now? What makes this the moment?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600200"/>
            <a:ext cx="3886200" cy="4480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WHO BENEFITS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4028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Name a specific person or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a specific group.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429000"/>
            <a:ext cx="3337560" cy="18288"/>
          </a:xfrm>
          <a:prstGeom prst="rect">
            <a:avLst/>
          </a:prstGeom>
          <a:solidFill>
            <a:srgbClr val="C5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611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WHAT SUCCESS LOOKS LIKE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23360"/>
            <a:ext cx="3383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Something we could observe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or count — not an activity,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a result.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Judges score: Responds to a genuine community need —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did we hear from the community?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Evidence that you listened — not that you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Who did we talk to, and what did they actually say?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566160" cy="3977639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56616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WHO WE HEARD 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People, roles, or groups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represented at this table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or spoken to directly.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057400"/>
            <a:ext cx="3566160" cy="3977639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057400"/>
            <a:ext cx="356616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THEY TOLD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69748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A quote, a pattern in what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people said, or something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that surprised us.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2057400"/>
            <a:ext cx="3566160" cy="3977639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2057400"/>
            <a:ext cx="356616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IT 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9748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How the listening shaped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or corrected the idea.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Evidence beats assumption. Judges are listening for what you heard, not what you guessed.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Which values are we protecting?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Pull directly from the wall: "What must remain true as we build?"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VALUES FROM THIS MORNING THAT OUR IDEA REINFORCES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949440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82296" cy="6858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Value 1 — quoted from the values wall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44368"/>
            <a:ext cx="6949440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82296" cy="6858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Value 2 — quoted from the values wall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85615"/>
            <a:ext cx="6949440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85615"/>
            <a:ext cx="82296" cy="6858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50207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Value 3 — quoted from the values wall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103120"/>
            <a:ext cx="3886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THE HONEST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697480"/>
            <a:ext cx="3474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Where could this idea put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pressure on a value —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and what are we doing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about it?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Still feels like this community because:  [ finish the sentence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Judges score: Reflects the community values identified this morning — 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Which patterns are we combining,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3–5 patterns that reinforce one another. A stack, not a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2514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514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9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PATTERN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240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BF8F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874519"/>
            <a:ext cx="2514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874519"/>
            <a:ext cx="2514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929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PATTERN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77440"/>
            <a:ext cx="2240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name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BF8F0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656" y="1874519"/>
            <a:ext cx="2514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874519"/>
            <a:ext cx="2514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1929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PATTERN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377440"/>
            <a:ext cx="2240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name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BF8F0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0304" y="1874519"/>
            <a:ext cx="2514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90304" y="1874519"/>
            <a:ext cx="2514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192938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PATTERN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2377440"/>
            <a:ext cx="2240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8C8C8C"/>
                </a:solidFill>
                <a:latin typeface="Calibri"/>
              </a:rPr>
              <a:t>[ name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290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HOW THEY REINFORCE EACH OTHER  —  this is the part judges are listening for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40480"/>
            <a:ext cx="694944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4041648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Pattern 1 does ____, which makes Pattern 2 possible.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517136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Pattern 2 feeds Pattern 3 by ____.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992623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Without Pattern 4, the whole stack ____.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840480"/>
            <a:ext cx="388620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28431" y="40233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WHAT IT LOOKS LIKE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4434840"/>
            <a:ext cx="3429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Name the street.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Name the building.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Name the person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  who would run it.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Judges score: Strength and logic of the pattern stack —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will we do in the next 90 days?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Every line needs one person's name — not a committee.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6616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66160" cy="6583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1–30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D9E2F3"/>
                </a:solidFill>
                <a:latin typeface="Calibri"/>
              </a:rPr>
              <a:t>Get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[ What happens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Lead:  [ name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Done by:  [ date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00200"/>
            <a:ext cx="356616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600200"/>
            <a:ext cx="3566160" cy="6583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16642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19385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D9E2F3"/>
                </a:solidFill>
                <a:latin typeface="Calibri"/>
              </a:rPr>
              <a:t>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7" y="2395728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[ What happens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Lead:  [ name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Done by:  [ date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600200"/>
            <a:ext cx="356616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600200"/>
            <a:ext cx="3566160" cy="6583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642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93852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D9E2F3"/>
                </a:solidFill>
                <a:latin typeface="Calibri"/>
              </a:rPr>
              <a:t>Show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95728"/>
            <a:ext cx="32004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[ What happens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Lead:  [ name ]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Done by:  [ date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694944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82296" cy="128016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5604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FIRST VISIBLE 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0352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[ What can someone outside this team actually SEE by Day 30?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800600"/>
            <a:ext cx="38862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95604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IF THE SEED MONEY WERE 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30352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8C8C8C"/>
                </a:solidFill>
                <a:latin typeface="Calibri"/>
              </a:rPr>
              <a:t>[ What is still true in this plan?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Judges score: Feasibility / quality of the 90-day plan —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01752"/>
            <a:ext cx="658368" cy="65836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84048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help do we need to make it happen?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786384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D9E2F3"/>
                </a:solidFill>
                <a:latin typeface="Calibri"/>
              </a:rPr>
              <a:t>Be specific. Someone in this room may be able to say yes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13055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13055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00784"/>
            <a:ext cx="1911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8562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specifically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  what ]</a:t>
            </a:r>
          </a:p>
          <a:p>
            <a:pPr algn="ctr">
              <a:spcAft>
                <a:spcPts val="600"/>
              </a:spcAft>
            </a:pP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who asks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645920"/>
            <a:ext cx="213055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645920"/>
            <a:ext cx="213055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700784"/>
            <a:ext cx="1911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194560"/>
            <a:ext cx="18562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specifically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  what ]</a:t>
            </a:r>
          </a:p>
          <a:p>
            <a:pPr algn="ctr">
              <a:spcAft>
                <a:spcPts val="600"/>
              </a:spcAft>
            </a:pP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who asks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645920"/>
            <a:ext cx="213055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92624" y="1645920"/>
            <a:ext cx="213055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1700784"/>
            <a:ext cx="1911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SPACE / GEAR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194560"/>
            <a:ext cx="18562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specifically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  what ]</a:t>
            </a:r>
          </a:p>
          <a:p>
            <a:pPr algn="ctr">
              <a:spcAft>
                <a:spcPts val="600"/>
              </a:spcAft>
            </a:pP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who asks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4616" y="1645920"/>
            <a:ext cx="213055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14616" y="1645920"/>
            <a:ext cx="213055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1700784"/>
            <a:ext cx="1911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2194560"/>
            <a:ext cx="18562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specifically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  what ]</a:t>
            </a:r>
          </a:p>
          <a:p>
            <a:pPr algn="ctr">
              <a:spcAft>
                <a:spcPts val="600"/>
              </a:spcAft>
            </a:pP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who asks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1645920"/>
            <a:ext cx="2130552" cy="1920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36608" y="1645920"/>
            <a:ext cx="2130552" cy="4114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1700784"/>
            <a:ext cx="1911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194560"/>
            <a:ext cx="18562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specifically</a:t>
            </a: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  what ]</a:t>
            </a:r>
          </a:p>
          <a:p>
            <a:pPr algn="ctr">
              <a:spcAft>
                <a:spcPts val="600"/>
              </a:spcAft>
            </a:pPr>
          </a:p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8C8C8C"/>
                </a:solidFill>
                <a:latin typeface="Calibri"/>
              </a:rPr>
              <a:t>[ who asks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WHAT COULD STOP US — AND OUR MOVE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11109960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26110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1.  [ barrier ]  →  [ our move ]  →  [ who handles it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92040"/>
            <a:ext cx="11109960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38344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8C8C8C"/>
                </a:solidFill>
                <a:latin typeface="Calibri"/>
              </a:rPr>
              <a:t>2.  [ barrier ]  →  [ our move ]  →  [ who handles it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19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Judges score: Potential community impact and ability to build momentum — 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4190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45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D9D9"/>
                </a:solidFill>
                <a:latin typeface="Calibri"/>
              </a:rPr>
              <a:t>THE JUDGES READ THIS ONE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MONDAY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1">
                <a:solidFill>
                  <a:srgbClr val="FFD9D9"/>
                </a:solidFill>
                <a:latin typeface="Calibri"/>
              </a:rPr>
              <a:t>One person.  One action.  Before next Friday.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3200400"/>
            <a:ext cx="740664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401568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WHO:        [ name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913632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WILL DO:   [ one action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25696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BY:            [ date before next Friday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3776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CONTACT:  [ email or phone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That person has agreed to this out 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READ THIS FIRST — THEN DELETE THIS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HOW THIS HOUR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You have 60 minutes (3:15–4:15).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848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Spend it on content, not design. Nobody has ever won a sprint on font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6207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Six slides. Six questions. Same for every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6382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That's deliberate — it lets judges compare fairly instead of rewarding whoever has the best slide skills.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41063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Five minutes to present.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4281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That's about 45 seconds per slide. The timekeeper will hold a hard stop at 5:00.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0055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Pick ONE presenter and ONE backup.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321807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Two people max. Handoffs eat your five minutes.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WHAT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Rehearse out loud at least twice.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084831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At 3:55 everyone stands up and runs it once. Non-negotiable. Teams that rehearse always land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62072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Replace every [ bracket 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163824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Brackets left on screen read as unfinished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41063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Protect the pattern slide.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242816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Slide 4 is 20% of your score and it's the first thing teams drop under time pressure. Don't.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0055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•  Submit to the shared folder by 4:10.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5321807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Decks get pre-loaded so there's no transition lag between teams.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126480"/>
            <a:ext cx="1110996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36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Scoring: community need 20%  |  values alignment 20%  |  pattern stack 20%  |  90-day feasibility 20%  |  momentum 20%   —   Monday Morning is a hard requirement, not a bonus.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